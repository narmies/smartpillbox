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Merriweath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iMUv+9oRlT4FAvCHQryHtVOnN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erriweather-bold.fntdata"/><Relationship Id="rId14" Type="http://schemas.openxmlformats.org/officeDocument/2006/relationships/font" Target="fonts/Merriweather-regular.fntdata"/><Relationship Id="rId17" Type="http://schemas.openxmlformats.org/officeDocument/2006/relationships/font" Target="fonts/Merriweather-boldItalic.fntdata"/><Relationship Id="rId16" Type="http://schemas.openxmlformats.org/officeDocument/2006/relationships/font" Target="fonts/Merriweath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94c7ec9f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394c7ec9f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394c7ec9f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394c7ec9f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394c7ec9f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394c7ec9f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394c7ec9f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f394c7ec9f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394c7ec9f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7.jpg"/><Relationship Id="rId8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890800" y="0"/>
            <a:ext cx="3301200" cy="3201000"/>
          </a:xfrm>
          <a:prstGeom prst="ellipse">
            <a:avLst/>
          </a:prstGeom>
          <a:solidFill>
            <a:srgbClr val="0F4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420900" y="565963"/>
            <a:ext cx="2155200" cy="2134200"/>
          </a:xfrm>
          <a:prstGeom prst="ellipse">
            <a:avLst/>
          </a:prstGeom>
          <a:solidFill>
            <a:srgbClr val="125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B7D79"/>
              </a:solidFill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CE490B  ·  ილიას სახელმწიფო უნივერსიტეტი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76" y="1180350"/>
            <a:ext cx="7132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ჭკვიანი წამლის ყუთი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56326" y="2368950"/>
            <a:ext cx="667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Smart Pillbox — Automated Medication Reminder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595550" y="3210325"/>
            <a:ext cx="5806500" cy="1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პრეზენტატორები: </a:t>
            </a:r>
            <a:endParaRPr b="1" sz="17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FBF1"/>
                </a:solidFill>
                <a:latin typeface="Cambria"/>
                <a:ea typeface="Cambria"/>
                <a:cs typeface="Cambria"/>
                <a:sym typeface="Cambria"/>
              </a:rPr>
              <a:t>ნარმინ სეიდოვა </a:t>
            </a:r>
            <a:endParaRPr>
              <a:solidFill>
                <a:srgbClr val="CCFBF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FBF1"/>
                </a:solidFill>
                <a:latin typeface="Cambria"/>
                <a:ea typeface="Cambria"/>
                <a:cs typeface="Cambria"/>
                <a:sym typeface="Cambria"/>
              </a:rPr>
              <a:t>ხამმათი აბაზოვი </a:t>
            </a:r>
            <a:endParaRPr>
              <a:solidFill>
                <a:srgbClr val="CCFBF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FBF1"/>
                </a:solidFill>
                <a:latin typeface="Cambria"/>
                <a:ea typeface="Cambria"/>
                <a:cs typeface="Cambria"/>
                <a:sym typeface="Cambria"/>
              </a:rPr>
              <a:t>აინურ ალახვერდიევა</a:t>
            </a:r>
            <a:endParaRPr>
              <a:solidFill>
                <a:srgbClr val="CCFBF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595550" y="4921100"/>
            <a:ext cx="30615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პროექტის ხელმძღვანელები: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FBF1"/>
                </a:solidFill>
              </a:rPr>
              <a:t>დავით ჩხაიძე</a:t>
            </a:r>
            <a:endParaRPr>
              <a:solidFill>
                <a:srgbClr val="CCFBF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CFBF1"/>
                </a:solidFill>
              </a:rPr>
              <a:t>გიორგი მოდებაძე</a:t>
            </a:r>
            <a:endParaRPr>
              <a:solidFill>
                <a:srgbClr val="CCFBF1"/>
              </a:solidFill>
            </a:endParaRPr>
          </a:p>
        </p:txBody>
      </p:sp>
      <p:pic>
        <p:nvPicPr>
          <p:cNvPr descr="pdf_images/hero_3d.png" id="23" name="Google Shape;23;p1"/>
          <p:cNvPicPr preferRelativeResize="0"/>
          <p:nvPr/>
        </p:nvPicPr>
        <p:blipFill rotWithShape="1">
          <a:blip r:embed="rId3">
            <a:alphaModFix/>
          </a:blip>
          <a:srcRect b="4505" l="9234" r="17943" t="7164"/>
          <a:stretch/>
        </p:blipFill>
        <p:spPr>
          <a:xfrm>
            <a:off x="6737175" y="3629775"/>
            <a:ext cx="2801401" cy="205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"/>
          <p:cNvPicPr preferRelativeResize="0"/>
          <p:nvPr/>
        </p:nvPicPr>
        <p:blipFill rotWithShape="1">
          <a:blip r:embed="rId4">
            <a:alphaModFix/>
          </a:blip>
          <a:srcRect b="14051" l="29990" r="29318" t="14622"/>
          <a:stretch/>
        </p:blipFill>
        <p:spPr>
          <a:xfrm>
            <a:off x="9756600" y="900925"/>
            <a:ext cx="1483800" cy="1464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პრობლემა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877690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დავიწყება, რომელიც ძვირი უჯდება ჯანმრთელობას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55448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2514600"/>
            <a:ext cx="3566160" cy="3291840"/>
          </a:xfrm>
          <a:prstGeom prst="roundRect">
            <a:avLst>
              <a:gd fmla="val 2778" name="adj"/>
            </a:avLst>
          </a:prstGeom>
          <a:solidFill>
            <a:srgbClr val="D7ECE9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960120" y="27889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~50%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60120" y="365760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B27"/>
                </a:solidFill>
                <a:latin typeface="Calibri"/>
                <a:ea typeface="Calibri"/>
                <a:cs typeface="Calibri"/>
                <a:sym typeface="Calibri"/>
              </a:rPr>
              <a:t>ქრონიკული დაავადების მქონე პაციენტი არ იცავს პრეპარატის მიღების რეჟიმს.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60120" y="5349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წყარო: WHO, 2003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434840" y="2514600"/>
            <a:ext cx="3566160" cy="3291840"/>
          </a:xfrm>
          <a:prstGeom prst="roundRect">
            <a:avLst>
              <a:gd fmla="val 2778" name="adj"/>
            </a:avLst>
          </a:prstGeom>
          <a:solidFill>
            <a:srgbClr val="C9E4E0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754880" y="27889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35–45%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754880" y="365760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B27"/>
                </a:solidFill>
                <a:latin typeface="Calibri"/>
                <a:ea typeface="Calibri"/>
                <a:cs typeface="Calibri"/>
                <a:sym typeface="Calibri"/>
              </a:rPr>
              <a:t>ხანდაზმულ პაციენტს ავიწყდება ყოველდღიური მედიკამენტის მიღება.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54880" y="5349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წყარო: WHO, 2003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229600" y="2514600"/>
            <a:ext cx="3566160" cy="3291840"/>
          </a:xfrm>
          <a:prstGeom prst="roundRect">
            <a:avLst>
              <a:gd fmla="val 2778" name="adj"/>
            </a:avLst>
          </a:prstGeom>
          <a:solidFill>
            <a:srgbClr val="C9E4E0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549640" y="27889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35A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4735A"/>
                </a:solidFill>
                <a:latin typeface="Cambria"/>
                <a:ea typeface="Cambria"/>
                <a:cs typeface="Cambria"/>
                <a:sym typeface="Cambria"/>
              </a:rPr>
              <a:t>300–500$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549640" y="365760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2B27"/>
                </a:solidFill>
                <a:latin typeface="Calibri"/>
                <a:ea typeface="Calibri"/>
                <a:cs typeface="Calibri"/>
                <a:sym typeface="Calibri"/>
              </a:rPr>
              <a:t>ღირს ბაზარზე არსებული ჭკვიანი დისპენსერი — ხშირად ყოველთვიური საბონენტო გადასახადითურთ.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549640" y="5349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მაგ. MedMinder Maya, Hero Health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გადაწყვეტა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ოთხი ფუნქცია, ერთი მარტივი ყუთი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2331720"/>
            <a:ext cx="2697480" cy="3566160"/>
          </a:xfrm>
          <a:prstGeom prst="roundRect">
            <a:avLst>
              <a:gd fmla="val 3390" name="adj"/>
            </a:avLst>
          </a:prstGeom>
          <a:solidFill>
            <a:srgbClr val="C9E4E0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28117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2651760" y="2606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DA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914400" y="35661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ზუსტი შეხსენება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14400" y="4069080"/>
            <a:ext cx="21488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DS3231 RTC მოდული დროს ინახავს კვების გათიშვის შემთხვევაშიც კი — შეხსენება ირთვება ±1 წამის სიზუსტით.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520440" y="2331720"/>
            <a:ext cx="2697480" cy="3566160"/>
          </a:xfrm>
          <a:prstGeom prst="roundRect">
            <a:avLst>
              <a:gd fmla="val 3390" name="adj"/>
            </a:avLst>
          </a:prstGeom>
          <a:solidFill>
            <a:srgbClr val="C9E4E0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794760" y="2651760"/>
            <a:ext cx="685800" cy="685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4780" y="28117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5532120" y="2606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DA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794760" y="35661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ფიზიკური წვდომა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794749" y="4069075"/>
            <a:ext cx="22404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ღილაკზე დაჭერისას სერვო-მოტორი </a:t>
            </a:r>
            <a:r>
              <a:rPr lang="en-US" sz="1150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r>
              <a:rPr b="0" i="0" lang="en-US" sz="115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°-ით ხსნის სწორ განყოფილებას — &lt;1 წამში.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0" y="2331720"/>
            <a:ext cx="2697480" cy="3566160"/>
          </a:xfrm>
          <a:prstGeom prst="roundRect">
            <a:avLst>
              <a:gd fmla="val 3390" name="adj"/>
            </a:avLst>
          </a:prstGeom>
          <a:solidFill>
            <a:srgbClr val="C9E4E0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675120" y="2651760"/>
            <a:ext cx="685800" cy="685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5140" y="28117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8412480" y="2606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DA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675120" y="35661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Telegram შეტყობინება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675120" y="4069080"/>
            <a:ext cx="21488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თუ დასტური არ დაფიქსირდა, მომვლელს &lt;3 წამში ეგზავნება გამაფრთხილებელი შეტყობინება.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281160" y="2331720"/>
            <a:ext cx="2697480" cy="3566160"/>
          </a:xfrm>
          <a:prstGeom prst="roundRect">
            <a:avLst>
              <a:gd fmla="val 3390" name="adj"/>
            </a:avLst>
          </a:prstGeom>
          <a:solidFill>
            <a:srgbClr val="C9E4E0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555480" y="2651760"/>
            <a:ext cx="685800" cy="685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0" y="28117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11292840" y="2606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DA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555480" y="35661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Web კონფიგურაცია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555480" y="4069080"/>
            <a:ext cx="21488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მოწყობილობა თავად ქმნის Wi-Fi ქსელს — გრაფიკის დაყენება ხდება ტელეფონის ბრაუზერიდან, აპლიკაციის გარეშე.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ინტერფეისი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დაყენება ორ წუთში, აპლიკაციის გარეშე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779275" y="1534790"/>
            <a:ext cx="6132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3DF"/>
              </a:buClr>
              <a:buSzPts val="2490"/>
              <a:buFont typeface="Cambria"/>
              <a:buNone/>
            </a:pPr>
            <a:r>
              <a:rPr b="1" i="0" lang="en-US" sz="2490" u="none" cap="none" strike="noStrike">
                <a:solidFill>
                  <a:srgbClr val="8FC2B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490" u="none" cap="none" strike="noStrike">
              <a:solidFill>
                <a:srgbClr val="8FC2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273183" y="1801824"/>
            <a:ext cx="481500" cy="4815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1409" y="1920050"/>
            <a:ext cx="245208" cy="2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5929991" y="1714250"/>
            <a:ext cx="613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389"/>
              <a:buFont typeface="Cambria"/>
              <a:buNone/>
            </a:pPr>
            <a:r>
              <a:rPr b="1" i="0" lang="en-US" sz="138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დაუკავშირდით ყუთის ქსელს</a:t>
            </a:r>
            <a:endParaRPr b="0" i="0" sz="13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827916" y="2108147"/>
            <a:ext cx="6130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01"/>
              <a:buFont typeface="Calibri"/>
              <a:buNone/>
            </a:pPr>
            <a:r>
              <a:rPr b="0" i="0" lang="en-US" sz="1101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მოწყობილობა ჩართვისას თავად ქმნის Wi-Fi ქსელს — „SmartPillBox-Setup“ — ხილვადია ტელეფონის Wi-Fi სიაში.</a:t>
            </a:r>
            <a:endParaRPr b="0" i="0" sz="11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4922886" y="2370948"/>
            <a:ext cx="0" cy="394200"/>
          </a:xfrm>
          <a:prstGeom prst="straightConnector1">
            <a:avLst/>
          </a:prstGeom>
          <a:noFill/>
          <a:ln cap="flat" cmpd="sng" w="18250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5"/>
          <p:cNvSpPr/>
          <p:nvPr/>
        </p:nvSpPr>
        <p:spPr>
          <a:xfrm>
            <a:off x="4779275" y="2585682"/>
            <a:ext cx="6132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3DF"/>
              </a:buClr>
              <a:buSzPts val="2490"/>
              <a:buFont typeface="Cambria"/>
              <a:buNone/>
            </a:pPr>
            <a:r>
              <a:rPr b="1" i="0" lang="en-US" sz="2490" u="none" cap="none" strike="noStrike">
                <a:solidFill>
                  <a:srgbClr val="8FC2B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490" u="none" cap="none" strike="noStrike">
              <a:solidFill>
                <a:srgbClr val="8FC2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273183" y="2852717"/>
            <a:ext cx="481500" cy="4815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409" y="2970942"/>
            <a:ext cx="245208" cy="2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5929991" y="2765142"/>
            <a:ext cx="613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389"/>
              <a:buFont typeface="Cambria"/>
              <a:buNone/>
            </a:pPr>
            <a:r>
              <a:rPr b="1" i="0" lang="en-US" sz="138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აირჩიეთ ენა</a:t>
            </a:r>
            <a:endParaRPr b="0" i="0" sz="13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929991" y="3115440"/>
            <a:ext cx="6130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01"/>
              <a:buFont typeface="Calibri"/>
              <a:buNone/>
            </a:pPr>
            <a:r>
              <a:rPr b="0" i="0" lang="en-US" sz="1101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Web გვერდი იხსნება ავტომატურად (captive portal) და მხარს უჭერს ქართულ და ინგლისურ ენებს.</a:t>
            </a:r>
            <a:endParaRPr b="0" i="0" sz="11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4922886" y="3439465"/>
            <a:ext cx="0" cy="394200"/>
          </a:xfrm>
          <a:prstGeom prst="straightConnector1">
            <a:avLst/>
          </a:prstGeom>
          <a:noFill/>
          <a:ln cap="flat" cmpd="sng" w="18250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5"/>
          <p:cNvSpPr/>
          <p:nvPr/>
        </p:nvSpPr>
        <p:spPr>
          <a:xfrm>
            <a:off x="4779275" y="3636575"/>
            <a:ext cx="6132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3DF"/>
              </a:buClr>
              <a:buSzPts val="2490"/>
              <a:buFont typeface="Cambria"/>
              <a:buNone/>
            </a:pPr>
            <a:r>
              <a:rPr b="1" i="0" lang="en-US" sz="2490" u="none" cap="none" strike="noStrike">
                <a:solidFill>
                  <a:srgbClr val="8FC2B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490" u="none" cap="none" strike="noStrike">
              <a:solidFill>
                <a:srgbClr val="8FC2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273183" y="3903609"/>
            <a:ext cx="481500" cy="4815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1409" y="4021835"/>
            <a:ext cx="245208" cy="2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5929991" y="3816035"/>
            <a:ext cx="613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389"/>
              <a:buFont typeface="Cambria"/>
              <a:buNone/>
            </a:pPr>
            <a:r>
              <a:rPr b="1" i="0" lang="en-US" sz="138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დააყენეთ დრო და Telegram</a:t>
            </a:r>
            <a:endParaRPr b="0" i="0" sz="13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29991" y="4166332"/>
            <a:ext cx="6130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01"/>
              <a:buFont typeface="Calibri"/>
              <a:buNone/>
            </a:pPr>
            <a:r>
              <a:rPr b="0" i="0" lang="en-US" sz="1101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შეიყვანეთ ბოლქვის დროის გრაფიკი, სახლის Wi-Fi და Telegram Chat ID მომვლელის შესატყობინებლად.</a:t>
            </a:r>
            <a:endParaRPr b="0" i="0" sz="11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4922886" y="4490358"/>
            <a:ext cx="0" cy="394200"/>
          </a:xfrm>
          <a:prstGeom prst="straightConnector1">
            <a:avLst/>
          </a:prstGeom>
          <a:noFill/>
          <a:ln cap="flat" cmpd="sng" w="18250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4779275" y="4687467"/>
            <a:ext cx="6132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3DF"/>
              </a:buClr>
              <a:buSzPts val="2490"/>
              <a:buFont typeface="Cambria"/>
              <a:buNone/>
            </a:pPr>
            <a:r>
              <a:rPr b="1" i="0" lang="en-US" sz="2490" u="none" cap="none" strike="noStrike">
                <a:solidFill>
                  <a:srgbClr val="8FC2B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490" u="none" cap="none" strike="noStrike">
              <a:solidFill>
                <a:srgbClr val="8FC2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273183" y="4954502"/>
            <a:ext cx="481500" cy="4815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87550" lIns="87550" spcFirstLastPara="1" rIns="87550" wrap="square" tIns="87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1409" y="5072727"/>
            <a:ext cx="245208" cy="2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5929991" y="4866927"/>
            <a:ext cx="6130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389"/>
              <a:buFont typeface="Cambria"/>
              <a:buNone/>
            </a:pPr>
            <a:r>
              <a:rPr b="1" i="0" lang="en-US" sz="138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შეინახეთ და დაივიწყეთ</a:t>
            </a:r>
            <a:endParaRPr b="0" i="0" sz="13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929991" y="5125175"/>
            <a:ext cx="6130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101"/>
              <a:buFont typeface="Calibri"/>
              <a:buNone/>
            </a:pPr>
            <a:r>
              <a:rPr b="0" i="0" lang="en-US" sz="1101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პარამეტრები ინახება EEPROM-ში და გადარჩება კვების გათიშვის შემთხვევაშიც.</a:t>
            </a:r>
            <a:endParaRPr b="0" i="0" sz="11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38678" y="1920201"/>
            <a:ext cx="1776000" cy="3699300"/>
          </a:xfrm>
          <a:prstGeom prst="roundRect">
            <a:avLst>
              <a:gd fmla="val 6545" name="adj"/>
            </a:avLst>
          </a:prstGeom>
          <a:solidFill>
            <a:srgbClr val="0B3D3E"/>
          </a:solidFill>
          <a:ln>
            <a:noFill/>
          </a:ln>
          <a:effectLst>
            <a:outerShdw blurRad="143510" rotWithShape="0" algn="bl" dir="5400000" dist="44847">
              <a:srgbClr val="000000">
                <a:alpha val="21960"/>
              </a:srgbClr>
            </a:outerShdw>
          </a:effectLst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WhatsApp_Image_2026-07-07_at_23_24_47.jpeg" id="108" name="Google Shape;10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683" y="1984743"/>
            <a:ext cx="1646771" cy="357023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991784" y="1517714"/>
            <a:ext cx="284100" cy="284100"/>
          </a:xfrm>
          <a:prstGeom prst="ellipse">
            <a:avLst/>
          </a:prstGeom>
          <a:solidFill>
            <a:srgbClr val="126E71"/>
          </a:solidFill>
          <a:ln>
            <a:noFill/>
          </a:ln>
          <a:effectLst>
            <a:outerShdw blurRad="53816" rotWithShape="0" algn="bl" dir="5400000" dist="17939">
              <a:srgbClr val="000000">
                <a:alpha val="20000"/>
              </a:srgbClr>
            </a:outerShdw>
          </a:effectLst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991784" y="1517714"/>
            <a:ext cx="284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9"/>
              <a:buFont typeface="Calibri"/>
              <a:buNone/>
            </a:pPr>
            <a:r>
              <a:rPr b="1" i="0" lang="en-US" sz="10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796768" y="1920038"/>
            <a:ext cx="1776000" cy="3699300"/>
          </a:xfrm>
          <a:prstGeom prst="roundRect">
            <a:avLst>
              <a:gd fmla="val 6545" name="adj"/>
            </a:avLst>
          </a:prstGeom>
          <a:solidFill>
            <a:srgbClr val="0B3D3E"/>
          </a:solidFill>
          <a:ln>
            <a:noFill/>
          </a:ln>
          <a:effectLst>
            <a:outerShdw blurRad="143510" rotWithShape="0" algn="bl" dir="5400000" dist="44847">
              <a:srgbClr val="000000">
                <a:alpha val="21960"/>
              </a:srgbClr>
            </a:outerShdw>
          </a:effectLst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WhatsApp_Image_2026-07-07_at_23_24_47__1_.jpeg" id="112" name="Google Shape;11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1347" y="1984618"/>
            <a:ext cx="1646771" cy="357023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3542698" y="1517714"/>
            <a:ext cx="284100" cy="284100"/>
          </a:xfrm>
          <a:prstGeom prst="ellipse">
            <a:avLst/>
          </a:prstGeom>
          <a:solidFill>
            <a:srgbClr val="F2545B"/>
          </a:solidFill>
          <a:ln>
            <a:noFill/>
          </a:ln>
          <a:effectLst>
            <a:outerShdw blurRad="53816" rotWithShape="0" algn="bl" dir="5400000" dist="17939">
              <a:srgbClr val="000000">
                <a:alpha val="20000"/>
              </a:srgbClr>
            </a:outerShdw>
          </a:effectLst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542698" y="1517714"/>
            <a:ext cx="284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9"/>
              <a:buFont typeface="Calibri"/>
              <a:buNone/>
            </a:pPr>
            <a:r>
              <a:rPr b="1" i="0" lang="en-US" sz="10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314293" y="3541789"/>
            <a:ext cx="361800" cy="361800"/>
          </a:xfrm>
          <a:prstGeom prst="ellipse">
            <a:avLst/>
          </a:prstGeom>
          <a:solidFill>
            <a:srgbClr val="EAF4F3"/>
          </a:solidFill>
          <a:ln>
            <a:noFill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2239028" y="3541675"/>
            <a:ext cx="533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6E71"/>
              </a:buClr>
              <a:buSzPts val="1413"/>
              <a:buFont typeface="Calibri"/>
              <a:buNone/>
            </a:pPr>
            <a:r>
              <a:rPr b="1" i="0" lang="en-US" sz="1413" u="none" cap="none" strike="noStrike">
                <a:solidFill>
                  <a:srgbClr val="126E7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3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მუშაობის პრინციპი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ერთი ციკლი, ნაბიჯ-ნაბიჯ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40080" y="1828800"/>
            <a:ext cx="2044598" cy="4160520"/>
          </a:xfrm>
          <a:prstGeom prst="roundRect">
            <a:avLst>
              <a:gd fmla="val 4025" name="adj"/>
            </a:avLst>
          </a:prstGeom>
          <a:solidFill>
            <a:srgbClr val="0F4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342339" y="21488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8643" y="2295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777240" y="2971800"/>
            <a:ext cx="17702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დროის შემოწმება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04672" y="3657600"/>
            <a:ext cx="171541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4E0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E4E0"/>
                </a:solidFill>
                <a:latin typeface="Calibri"/>
                <a:ea typeface="Calibri"/>
                <a:cs typeface="Calibri"/>
                <a:sym typeface="Calibri"/>
              </a:rPr>
              <a:t>ESP32 ყოველ წამში კითხულობს დროს DS3231 RTC-იდან (I²C) და ადარებს გრაფიკს.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533800" y="3590151"/>
            <a:ext cx="438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849270" y="1828800"/>
            <a:ext cx="2044598" cy="4160520"/>
          </a:xfrm>
          <a:prstGeom prst="roundRect">
            <a:avLst>
              <a:gd fmla="val 4025" name="adj"/>
            </a:avLst>
          </a:prstGeom>
          <a:solidFill>
            <a:srgbClr val="0F4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551530" y="21488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7834" y="2295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2986430" y="2971800"/>
            <a:ext cx="17702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შეხსენების გააქტიურება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013862" y="3657600"/>
            <a:ext cx="171541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4E0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E4E0"/>
                </a:solidFill>
                <a:latin typeface="Calibri"/>
                <a:ea typeface="Calibri"/>
                <a:cs typeface="Calibri"/>
                <a:sym typeface="Calibri"/>
              </a:rPr>
              <a:t>დროის დამთხვევისას ირთვება ხმოვან-ვიზუალური სიგნალი — ბუზერი და წითელი LED.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42994" y="3566160"/>
            <a:ext cx="4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58461" y="1828800"/>
            <a:ext cx="2044598" cy="4160520"/>
          </a:xfrm>
          <a:prstGeom prst="roundRect">
            <a:avLst>
              <a:gd fmla="val 4025" name="adj"/>
            </a:avLst>
          </a:prstGeom>
          <a:solidFill>
            <a:srgbClr val="0F4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760720" y="21488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7024" y="2295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5195621" y="2971800"/>
            <a:ext cx="17702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პაციენტის დასტური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223053" y="3657600"/>
            <a:ext cx="171541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4E0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E4E0"/>
                </a:solidFill>
                <a:latin typeface="Calibri"/>
                <a:ea typeface="Calibri"/>
                <a:cs typeface="Calibri"/>
                <a:sym typeface="Calibri"/>
              </a:rPr>
              <a:t>პაციენტი აჭერს ღილაკს, სიგნალი ჩერდება და სერვო ხსნის შესაბამის განყოფილებას.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965909" y="3566160"/>
            <a:ext cx="4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267651" y="1828800"/>
            <a:ext cx="2044598" cy="4160520"/>
          </a:xfrm>
          <a:prstGeom prst="roundRect">
            <a:avLst>
              <a:gd fmla="val 4025" name="adj"/>
            </a:avLst>
          </a:prstGeom>
          <a:solidFill>
            <a:srgbClr val="0F4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7969910" y="21488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6214" y="2295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7404811" y="2971800"/>
            <a:ext cx="17702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დასტურის გაცემა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432243" y="3657600"/>
            <a:ext cx="171541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4E0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E4E0"/>
                </a:solidFill>
                <a:latin typeface="Calibri"/>
                <a:ea typeface="Calibri"/>
                <a:cs typeface="Calibri"/>
                <a:sym typeface="Calibri"/>
              </a:rPr>
              <a:t>Telegram Bot მომვლელს უგზავნის დადასტურების შეტყობინებას მიღების შესახებ.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161387" y="3566160"/>
            <a:ext cx="43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476842" y="1828800"/>
            <a:ext cx="2044598" cy="4160520"/>
          </a:xfrm>
          <a:prstGeom prst="roundRect">
            <a:avLst>
              <a:gd fmla="val 4025" name="adj"/>
            </a:avLst>
          </a:prstGeom>
          <a:solidFill>
            <a:srgbClr val="3A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0179101" y="2148840"/>
            <a:ext cx="640080" cy="640080"/>
          </a:xfrm>
          <a:prstGeom prst="ellipse">
            <a:avLst/>
          </a:prstGeom>
          <a:solidFill>
            <a:srgbClr val="F473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25405" y="2295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/>
          <p:nvPr/>
        </p:nvSpPr>
        <p:spPr>
          <a:xfrm>
            <a:off x="9614002" y="2971800"/>
            <a:ext cx="17702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გამოტოვების შემთხვევა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641434" y="3657600"/>
            <a:ext cx="171541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E4E0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C9E4E0"/>
                </a:solidFill>
                <a:latin typeface="Calibri"/>
                <a:ea typeface="Calibri"/>
                <a:cs typeface="Calibri"/>
                <a:sym typeface="Calibri"/>
              </a:rPr>
              <a:t>2 წუთის განმავლობაში დაუდასტურებლობისას სისტემა აგზავნის გამაფრთხილებელ შეტყობინებას.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394c7ec9f_0_62"/>
          <p:cNvSpPr txBox="1"/>
          <p:nvPr/>
        </p:nvSpPr>
        <p:spPr>
          <a:xfrm>
            <a:off x="584850" y="407100"/>
            <a:ext cx="56709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1D6560"/>
                </a:solidFill>
                <a:latin typeface="Merriweather"/>
                <a:ea typeface="Merriweather"/>
                <a:cs typeface="Merriweather"/>
                <a:sym typeface="Merriweather"/>
              </a:rPr>
              <a:t>კომპონენტების ელექტრული შეერთების სქემა</a:t>
            </a:r>
            <a:endParaRPr b="1" sz="1600">
              <a:solidFill>
                <a:srgbClr val="1D656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274E13"/>
              </a:solidFill>
            </a:endParaRPr>
          </a:p>
        </p:txBody>
      </p:sp>
      <p:sp>
        <p:nvSpPr>
          <p:cNvPr id="159" name="Google Shape;159;g3f394c7ec9f_0_62"/>
          <p:cNvSpPr/>
          <p:nvPr/>
        </p:nvSpPr>
        <p:spPr>
          <a:xfrm>
            <a:off x="4846675" y="2539603"/>
            <a:ext cx="2792100" cy="1395900"/>
          </a:xfrm>
          <a:prstGeom prst="roundRect">
            <a:avLst>
              <a:gd fmla="val 5333" name="adj"/>
            </a:avLst>
          </a:prstGeom>
          <a:solidFill>
            <a:srgbClr val="0B3D3A"/>
          </a:solidFill>
          <a:ln>
            <a:noFill/>
          </a:ln>
          <a:effectLst>
            <a:outerShdw blurRad="103407" rotWithShape="0" algn="bl" dir="5400000" dist="38778">
              <a:srgbClr val="0B3D3A">
                <a:alpha val="10199"/>
              </a:srgbClr>
            </a:outerShdw>
          </a:effectLst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394c7ec9f_0_62"/>
          <p:cNvSpPr/>
          <p:nvPr/>
        </p:nvSpPr>
        <p:spPr>
          <a:xfrm>
            <a:off x="4846675" y="2865333"/>
            <a:ext cx="27921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7"/>
              <a:buFont typeface="Cambria"/>
              <a:buNone/>
            </a:pPr>
            <a:r>
              <a:rPr b="1" i="0" lang="en-US" sz="1527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ESP32 DevKit</a:t>
            </a:r>
            <a:endParaRPr b="0" i="0" sz="15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394c7ec9f_0_62"/>
          <p:cNvSpPr/>
          <p:nvPr/>
        </p:nvSpPr>
        <p:spPr>
          <a:xfrm>
            <a:off x="4846675" y="3265516"/>
            <a:ext cx="2792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67"/>
              <a:buFont typeface="Courier New"/>
              <a:buNone/>
            </a:pPr>
            <a:r>
              <a:rPr b="0" i="0" lang="en-US" sz="967" u="none" cap="none" strike="noStrik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38-pin · Dual-core</a:t>
            </a:r>
            <a:endParaRPr b="0" i="0" sz="9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394c7ec9f_0_62"/>
          <p:cNvSpPr/>
          <p:nvPr/>
        </p:nvSpPr>
        <p:spPr>
          <a:xfrm>
            <a:off x="4800142" y="2679202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394c7ec9f_0_62"/>
          <p:cNvSpPr/>
          <p:nvPr/>
        </p:nvSpPr>
        <p:spPr>
          <a:xfrm>
            <a:off x="7601444" y="2679202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394c7ec9f_0_62"/>
          <p:cNvSpPr/>
          <p:nvPr/>
        </p:nvSpPr>
        <p:spPr>
          <a:xfrm>
            <a:off x="4800142" y="2883946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394c7ec9f_0_62"/>
          <p:cNvSpPr/>
          <p:nvPr/>
        </p:nvSpPr>
        <p:spPr>
          <a:xfrm>
            <a:off x="7601444" y="2883946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394c7ec9f_0_62"/>
          <p:cNvSpPr/>
          <p:nvPr/>
        </p:nvSpPr>
        <p:spPr>
          <a:xfrm>
            <a:off x="4800142" y="3088691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394c7ec9f_0_62"/>
          <p:cNvSpPr/>
          <p:nvPr/>
        </p:nvSpPr>
        <p:spPr>
          <a:xfrm>
            <a:off x="7601444" y="3088691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394c7ec9f_0_62"/>
          <p:cNvSpPr/>
          <p:nvPr/>
        </p:nvSpPr>
        <p:spPr>
          <a:xfrm>
            <a:off x="4800142" y="3293436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394c7ec9f_0_62"/>
          <p:cNvSpPr/>
          <p:nvPr/>
        </p:nvSpPr>
        <p:spPr>
          <a:xfrm>
            <a:off x="7601444" y="3293436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394c7ec9f_0_62"/>
          <p:cNvSpPr/>
          <p:nvPr/>
        </p:nvSpPr>
        <p:spPr>
          <a:xfrm>
            <a:off x="4800142" y="3498181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394c7ec9f_0_62"/>
          <p:cNvSpPr/>
          <p:nvPr/>
        </p:nvSpPr>
        <p:spPr>
          <a:xfrm>
            <a:off x="7601444" y="3498181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394c7ec9f_0_62"/>
          <p:cNvSpPr/>
          <p:nvPr/>
        </p:nvSpPr>
        <p:spPr>
          <a:xfrm>
            <a:off x="4800142" y="3702925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394c7ec9f_0_62"/>
          <p:cNvSpPr/>
          <p:nvPr/>
        </p:nvSpPr>
        <p:spPr>
          <a:xfrm>
            <a:off x="7601444" y="3702925"/>
            <a:ext cx="83700" cy="837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394c7ec9f_0_62"/>
          <p:cNvSpPr/>
          <p:nvPr/>
        </p:nvSpPr>
        <p:spPr>
          <a:xfrm>
            <a:off x="1514726" y="1190117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g3f394c7ec9f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325" y="1362289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f394c7ec9f_0_62"/>
          <p:cNvSpPr/>
          <p:nvPr/>
        </p:nvSpPr>
        <p:spPr>
          <a:xfrm>
            <a:off x="2119638" y="2666700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DS3231 RTC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394c7ec9f_0_62"/>
          <p:cNvSpPr/>
          <p:nvPr/>
        </p:nvSpPr>
        <p:spPr>
          <a:xfrm>
            <a:off x="2119658" y="1608913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I²C · SDA/SCL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g3f394c7ec9f_0_62"/>
          <p:cNvCxnSpPr/>
          <p:nvPr/>
        </p:nvCxnSpPr>
        <p:spPr>
          <a:xfrm>
            <a:off x="3422578" y="1632189"/>
            <a:ext cx="14478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g3f394c7ec9f_0_62"/>
          <p:cNvCxnSpPr/>
          <p:nvPr/>
        </p:nvCxnSpPr>
        <p:spPr>
          <a:xfrm>
            <a:off x="4846675" y="1632211"/>
            <a:ext cx="0" cy="16056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g3f394c7ec9f_0_62"/>
          <p:cNvSpPr/>
          <p:nvPr/>
        </p:nvSpPr>
        <p:spPr>
          <a:xfrm>
            <a:off x="3390016" y="1599607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394c7ec9f_0_62"/>
          <p:cNvSpPr/>
          <p:nvPr/>
        </p:nvSpPr>
        <p:spPr>
          <a:xfrm>
            <a:off x="1514726" y="2493038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g3f394c7ec9f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4325" y="2665210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394c7ec9f_0_62"/>
          <p:cNvSpPr/>
          <p:nvPr/>
        </p:nvSpPr>
        <p:spPr>
          <a:xfrm>
            <a:off x="2119658" y="2567491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SG90 სერვო A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394c7ec9f_0_62"/>
          <p:cNvSpPr/>
          <p:nvPr/>
        </p:nvSpPr>
        <p:spPr>
          <a:xfrm>
            <a:off x="2119658" y="2911835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GPIO 13 · PWM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g3f394c7ec9f_0_62"/>
          <p:cNvCxnSpPr/>
          <p:nvPr/>
        </p:nvCxnSpPr>
        <p:spPr>
          <a:xfrm>
            <a:off x="3422578" y="2935110"/>
            <a:ext cx="14478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g3f394c7ec9f_0_62"/>
          <p:cNvCxnSpPr/>
          <p:nvPr/>
        </p:nvCxnSpPr>
        <p:spPr>
          <a:xfrm>
            <a:off x="4846675" y="2935132"/>
            <a:ext cx="0" cy="3027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g3f394c7ec9f_0_62"/>
          <p:cNvSpPr/>
          <p:nvPr/>
        </p:nvSpPr>
        <p:spPr>
          <a:xfrm>
            <a:off x="3390016" y="2902528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394c7ec9f_0_62"/>
          <p:cNvSpPr/>
          <p:nvPr/>
        </p:nvSpPr>
        <p:spPr>
          <a:xfrm>
            <a:off x="1514726" y="3795960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g3f394c7ec9f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4325" y="3968131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f394c7ec9f_0_62"/>
          <p:cNvSpPr/>
          <p:nvPr/>
        </p:nvSpPr>
        <p:spPr>
          <a:xfrm>
            <a:off x="2119658" y="3870412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SG90 სერვო B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394c7ec9f_0_62"/>
          <p:cNvSpPr/>
          <p:nvPr/>
        </p:nvSpPr>
        <p:spPr>
          <a:xfrm>
            <a:off x="2119658" y="4214756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GPIO 14 · PWM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g3f394c7ec9f_0_62"/>
          <p:cNvCxnSpPr/>
          <p:nvPr/>
        </p:nvCxnSpPr>
        <p:spPr>
          <a:xfrm>
            <a:off x="3422578" y="4238031"/>
            <a:ext cx="14478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g3f394c7ec9f_0_62"/>
          <p:cNvCxnSpPr/>
          <p:nvPr/>
        </p:nvCxnSpPr>
        <p:spPr>
          <a:xfrm>
            <a:off x="4846675" y="3237596"/>
            <a:ext cx="0" cy="10002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g3f394c7ec9f_0_62"/>
          <p:cNvSpPr/>
          <p:nvPr/>
        </p:nvSpPr>
        <p:spPr>
          <a:xfrm>
            <a:off x="3390016" y="4205449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394c7ec9f_0_62"/>
          <p:cNvSpPr/>
          <p:nvPr/>
        </p:nvSpPr>
        <p:spPr>
          <a:xfrm>
            <a:off x="1514726" y="5098881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g3f394c7ec9f_0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4325" y="5271052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f394c7ec9f_0_62"/>
          <p:cNvSpPr/>
          <p:nvPr/>
        </p:nvSpPr>
        <p:spPr>
          <a:xfrm>
            <a:off x="2119658" y="5173333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Push Button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394c7ec9f_0_62"/>
          <p:cNvSpPr/>
          <p:nvPr/>
        </p:nvSpPr>
        <p:spPr>
          <a:xfrm>
            <a:off x="2119658" y="5517677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GPIO 27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g3f394c7ec9f_0_62"/>
          <p:cNvCxnSpPr/>
          <p:nvPr/>
        </p:nvCxnSpPr>
        <p:spPr>
          <a:xfrm>
            <a:off x="3422578" y="5540952"/>
            <a:ext cx="14478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g3f394c7ec9f_0_62"/>
          <p:cNvCxnSpPr/>
          <p:nvPr/>
        </p:nvCxnSpPr>
        <p:spPr>
          <a:xfrm>
            <a:off x="4846675" y="3237596"/>
            <a:ext cx="0" cy="23037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g3f394c7ec9f_0_62"/>
          <p:cNvSpPr/>
          <p:nvPr/>
        </p:nvSpPr>
        <p:spPr>
          <a:xfrm>
            <a:off x="3390016" y="5508370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394c7ec9f_0_62"/>
          <p:cNvSpPr/>
          <p:nvPr/>
        </p:nvSpPr>
        <p:spPr>
          <a:xfrm>
            <a:off x="8956462" y="1190102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g3f394c7ec9f_0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6062" y="1362273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f394c7ec9f_0_62"/>
          <p:cNvSpPr/>
          <p:nvPr/>
        </p:nvSpPr>
        <p:spPr>
          <a:xfrm>
            <a:off x="9561375" y="2666684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Buzzer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394c7ec9f_0_62"/>
          <p:cNvSpPr/>
          <p:nvPr/>
        </p:nvSpPr>
        <p:spPr>
          <a:xfrm>
            <a:off x="9561394" y="1608898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GPIO 25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g3f394c7ec9f_0_62"/>
          <p:cNvCxnSpPr/>
          <p:nvPr/>
        </p:nvCxnSpPr>
        <p:spPr>
          <a:xfrm>
            <a:off x="7638698" y="1632174"/>
            <a:ext cx="13179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g3f394c7ec9f_0_62"/>
          <p:cNvCxnSpPr/>
          <p:nvPr/>
        </p:nvCxnSpPr>
        <p:spPr>
          <a:xfrm>
            <a:off x="7638670" y="1632211"/>
            <a:ext cx="0" cy="16056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g3f394c7ec9f_0_62"/>
          <p:cNvSpPr/>
          <p:nvPr/>
        </p:nvSpPr>
        <p:spPr>
          <a:xfrm>
            <a:off x="8923889" y="1599591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f394c7ec9f_0_62"/>
          <p:cNvSpPr/>
          <p:nvPr/>
        </p:nvSpPr>
        <p:spPr>
          <a:xfrm>
            <a:off x="8956462" y="2493023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g3f394c7ec9f_0_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6062" y="2665194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394c7ec9f_0_62"/>
          <p:cNvSpPr/>
          <p:nvPr/>
        </p:nvSpPr>
        <p:spPr>
          <a:xfrm>
            <a:off x="9561394" y="2567475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LED (წითელი)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394c7ec9f_0_62"/>
          <p:cNvSpPr/>
          <p:nvPr/>
        </p:nvSpPr>
        <p:spPr>
          <a:xfrm>
            <a:off x="9561394" y="2911819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GPIO 26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g3f394c7ec9f_0_62"/>
          <p:cNvCxnSpPr/>
          <p:nvPr/>
        </p:nvCxnSpPr>
        <p:spPr>
          <a:xfrm>
            <a:off x="7638698" y="2935094"/>
            <a:ext cx="13179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g3f394c7ec9f_0_62"/>
          <p:cNvCxnSpPr/>
          <p:nvPr/>
        </p:nvCxnSpPr>
        <p:spPr>
          <a:xfrm>
            <a:off x="7638670" y="2935132"/>
            <a:ext cx="0" cy="3027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g3f394c7ec9f_0_62"/>
          <p:cNvSpPr/>
          <p:nvPr/>
        </p:nvSpPr>
        <p:spPr>
          <a:xfrm>
            <a:off x="8923889" y="2902512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394c7ec9f_0_62"/>
          <p:cNvSpPr/>
          <p:nvPr/>
        </p:nvSpPr>
        <p:spPr>
          <a:xfrm>
            <a:off x="8956462" y="3795944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g3f394c7ec9f_0_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6062" y="3968116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f394c7ec9f_0_62"/>
          <p:cNvSpPr/>
          <p:nvPr/>
        </p:nvSpPr>
        <p:spPr>
          <a:xfrm>
            <a:off x="9561394" y="3870396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Wi-Fi / Telegram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394c7ec9f_0_62"/>
          <p:cNvSpPr/>
          <p:nvPr/>
        </p:nvSpPr>
        <p:spPr>
          <a:xfrm>
            <a:off x="9561394" y="4214740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HTTPS Cloud API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g3f394c7ec9f_0_62"/>
          <p:cNvCxnSpPr/>
          <p:nvPr/>
        </p:nvCxnSpPr>
        <p:spPr>
          <a:xfrm>
            <a:off x="7638698" y="4238015"/>
            <a:ext cx="13179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g3f394c7ec9f_0_62"/>
          <p:cNvCxnSpPr/>
          <p:nvPr/>
        </p:nvCxnSpPr>
        <p:spPr>
          <a:xfrm>
            <a:off x="7638670" y="3237596"/>
            <a:ext cx="0" cy="10002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g3f394c7ec9f_0_62"/>
          <p:cNvSpPr/>
          <p:nvPr/>
        </p:nvSpPr>
        <p:spPr>
          <a:xfrm>
            <a:off x="8923889" y="4205433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394c7ec9f_0_62"/>
          <p:cNvSpPr/>
          <p:nvPr/>
        </p:nvSpPr>
        <p:spPr>
          <a:xfrm>
            <a:off x="8956462" y="5098865"/>
            <a:ext cx="1907700" cy="884100"/>
          </a:xfrm>
          <a:prstGeom prst="roundRect">
            <a:avLst>
              <a:gd fmla="val 8421" name="adj"/>
            </a:avLst>
          </a:prstGeom>
          <a:solidFill>
            <a:srgbClr val="F7FBFA"/>
          </a:solidFill>
          <a:ln cap="flat" cmpd="sng" w="129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g3f394c7ec9f_0_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96062" y="5271037"/>
            <a:ext cx="390877" cy="39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f394c7ec9f_0_62"/>
          <p:cNvSpPr/>
          <p:nvPr/>
        </p:nvSpPr>
        <p:spPr>
          <a:xfrm>
            <a:off x="9561394" y="5173318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i="0" lang="en-US" sz="1069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5V / 2A კვება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394c7ec9f_0_62"/>
          <p:cNvSpPr/>
          <p:nvPr/>
        </p:nvSpPr>
        <p:spPr>
          <a:xfrm>
            <a:off x="9561394" y="5517661"/>
            <a:ext cx="1209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814"/>
              <a:buFont typeface="Courier New"/>
              <a:buNone/>
            </a:pPr>
            <a:r>
              <a:rPr b="0" i="0" lang="en-US" sz="814" u="none" cap="none" strike="noStrike">
                <a:solidFill>
                  <a:srgbClr val="5B7D79"/>
                </a:solidFill>
                <a:latin typeface="Courier New"/>
                <a:ea typeface="Courier New"/>
                <a:cs typeface="Courier New"/>
                <a:sym typeface="Courier New"/>
              </a:rPr>
              <a:t>USB Power</a:t>
            </a:r>
            <a:endParaRPr b="0" i="0" sz="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g3f394c7ec9f_0_62"/>
          <p:cNvCxnSpPr/>
          <p:nvPr/>
        </p:nvCxnSpPr>
        <p:spPr>
          <a:xfrm>
            <a:off x="7638698" y="5540936"/>
            <a:ext cx="1317900" cy="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g3f394c7ec9f_0_62"/>
          <p:cNvCxnSpPr/>
          <p:nvPr/>
        </p:nvCxnSpPr>
        <p:spPr>
          <a:xfrm>
            <a:off x="7638670" y="3237596"/>
            <a:ext cx="0" cy="2303700"/>
          </a:xfrm>
          <a:prstGeom prst="straightConnector1">
            <a:avLst/>
          </a:prstGeom>
          <a:noFill/>
          <a:ln cap="flat" cmpd="sng" w="19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g3f394c7ec9f_0_62"/>
          <p:cNvSpPr/>
          <p:nvPr/>
        </p:nvSpPr>
        <p:spPr>
          <a:xfrm>
            <a:off x="8923889" y="5508354"/>
            <a:ext cx="65400" cy="65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394c7ec9f_0_62"/>
          <p:cNvSpPr/>
          <p:nvPr/>
        </p:nvSpPr>
        <p:spPr>
          <a:xfrm>
            <a:off x="2112670" y="1329641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lang="en-US" sz="1069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RTC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394c7ec9f_0_62"/>
          <p:cNvSpPr/>
          <p:nvPr/>
        </p:nvSpPr>
        <p:spPr>
          <a:xfrm>
            <a:off x="9561383" y="1329591"/>
            <a:ext cx="1209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069"/>
              <a:buFont typeface="Cambria"/>
              <a:buNone/>
            </a:pPr>
            <a:r>
              <a:rPr b="1" lang="en-US" sz="1069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Buzzer</a:t>
            </a:r>
            <a:endParaRPr b="0" i="0" sz="10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3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3f394c7ec9f_0_56"/>
          <p:cNvPicPr preferRelativeResize="0"/>
          <p:nvPr/>
        </p:nvPicPr>
        <p:blipFill rotWithShape="1">
          <a:blip r:embed="rId3">
            <a:alphaModFix/>
          </a:blip>
          <a:srcRect b="2047" l="1119" r="726" t="6553"/>
          <a:stretch/>
        </p:blipFill>
        <p:spPr>
          <a:xfrm>
            <a:off x="1567600" y="663699"/>
            <a:ext cx="8906381" cy="58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394c7ec9f_0_56"/>
          <p:cNvSpPr txBox="1"/>
          <p:nvPr/>
        </p:nvSpPr>
        <p:spPr>
          <a:xfrm>
            <a:off x="4320125" y="121300"/>
            <a:ext cx="26829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საწარმო ნახაზი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3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/>
          <p:nvPr/>
        </p:nvSpPr>
        <p:spPr>
          <a:xfrm>
            <a:off x="640080" y="4572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გუნდი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40080" y="777240"/>
            <a:ext cx="10789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CCFBF1"/>
                </a:solidFill>
                <a:latin typeface="Cambria"/>
                <a:ea typeface="Cambria"/>
                <a:cs typeface="Cambria"/>
                <a:sym typeface="Cambria"/>
              </a:rPr>
              <a:t>CE490B გუნდი</a:t>
            </a:r>
            <a:endParaRPr b="0" i="0" sz="2800" u="none" cap="none" strike="noStrike">
              <a:solidFill>
                <a:srgbClr val="CCFB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40080" y="1508760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C2BC"/>
                </a:solidFill>
                <a:latin typeface="Calibri"/>
                <a:ea typeface="Calibri"/>
                <a:cs typeface="Calibri"/>
                <a:sym typeface="Calibri"/>
              </a:rPr>
              <a:t>პროექტი განხორციელდა სამკაციანი გუნდის მიერ</a:t>
            </a:r>
            <a:endParaRPr b="0" i="0" sz="1300" u="none" cap="none" strike="noStrike">
              <a:solidFill>
                <a:srgbClr val="8FC2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40080" y="2194560"/>
            <a:ext cx="3566100" cy="3794700"/>
          </a:xfrm>
          <a:prstGeom prst="roundRect">
            <a:avLst>
              <a:gd fmla="val 2564" name="adj"/>
            </a:avLst>
          </a:prstGeom>
          <a:solidFill>
            <a:srgbClr val="F7FBFA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60120" y="2468880"/>
            <a:ext cx="777300" cy="777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960120" y="2468880"/>
            <a:ext cx="777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ნს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960120" y="33832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ნარმინ სეიდოვა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960120" y="374904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Lead Software 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960120" y="4160520"/>
            <a:ext cx="29262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ESP32 ფირმვეარისა და არქიტექტურის შემუშავება, Wi-Fi AP კონფიგურაცია, EEPROM ლოგიკა, Web ინტერფეისი და Telegram Bot API ინტეგრაცია. გადაჭრა სერვოს PWM jitter პრობლემა LEDC ტაიმერით.</a:t>
            </a:r>
            <a:endParaRPr b="1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434840" y="2194560"/>
            <a:ext cx="3566100" cy="3794700"/>
          </a:xfrm>
          <a:prstGeom prst="roundRect">
            <a:avLst>
              <a:gd fmla="val 2564" name="adj"/>
            </a:avLst>
          </a:prstGeom>
          <a:solidFill>
            <a:srgbClr val="F7FBFA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754880" y="2468880"/>
            <a:ext cx="777300" cy="777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754880" y="2468880"/>
            <a:ext cx="777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ხა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754880" y="33832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ხამათი აბაზოვი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754880" y="374904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Hardware &amp; Prototyping Engineer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754880" y="4160520"/>
            <a:ext cx="29262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კორპუსის 3D მოდელირება და CAD დიზაინი, ელექტრული სქემები და ფიზიკური აწყობა. კვების ბიუჯეტის ანალიზი და პროტოტიპის მექანიკური ტესტირება.</a:t>
            </a:r>
            <a:endParaRPr b="1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229600" y="2194560"/>
            <a:ext cx="3566100" cy="3794700"/>
          </a:xfrm>
          <a:prstGeom prst="roundRect">
            <a:avLst>
              <a:gd fmla="val 2564" name="adj"/>
            </a:avLst>
          </a:prstGeom>
          <a:solidFill>
            <a:srgbClr val="F7FBFA"/>
          </a:solidFill>
          <a:ln>
            <a:noFill/>
          </a:ln>
          <a:effectLst>
            <a:outerShdw blurRad="101600" rotWithShape="0" algn="bl" dir="5400000" dist="38100">
              <a:srgbClr val="0B3D3A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8549640" y="2468880"/>
            <a:ext cx="777300" cy="7773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8549640" y="2468880"/>
            <a:ext cx="777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აა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549640" y="33832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B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B27"/>
                </a:solidFill>
                <a:latin typeface="Cambria"/>
                <a:ea typeface="Cambria"/>
                <a:cs typeface="Cambria"/>
                <a:sym typeface="Cambria"/>
              </a:rPr>
              <a:t>აინურ ალახვერდიევა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549640" y="374904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Systems Analyst &amp; Documentation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549640" y="4160520"/>
            <a:ext cx="29262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B7D79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5B7D79"/>
                </a:solidFill>
                <a:latin typeface="Calibri"/>
                <a:ea typeface="Calibri"/>
                <a:cs typeface="Calibri"/>
                <a:sym typeface="Calibri"/>
              </a:rPr>
              <a:t>ტექნიკური დოკუმენტაცია, ბლოკ-სქემები და ალგორითმები, ბაზრის ანალიზი, BOM ბიუჯეტი, განტის დიაგრამა, სტანდარტების შესაბამისობა.</a:t>
            </a:r>
            <a:endParaRPr b="1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3E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394c7ec9f_0_146"/>
          <p:cNvSpPr/>
          <p:nvPr/>
        </p:nvSpPr>
        <p:spPr>
          <a:xfrm>
            <a:off x="3192000" y="2173375"/>
            <a:ext cx="5808000" cy="5624100"/>
          </a:xfrm>
          <a:prstGeom prst="ellipse">
            <a:avLst/>
          </a:prstGeom>
          <a:solidFill>
            <a:srgbClr val="0F4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394c7ec9f_0_146"/>
          <p:cNvSpPr/>
          <p:nvPr/>
        </p:nvSpPr>
        <p:spPr>
          <a:xfrm>
            <a:off x="0" y="2331720"/>
            <a:ext cx="12189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SMART PILLBOX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394c7ec9f_0_146"/>
          <p:cNvSpPr/>
          <p:nvPr/>
        </p:nvSpPr>
        <p:spPr>
          <a:xfrm>
            <a:off x="0" y="3383280"/>
            <a:ext cx="1218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3D1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8FD3D1"/>
                </a:solidFill>
                <a:latin typeface="Calibri"/>
                <a:ea typeface="Calibri"/>
                <a:cs typeface="Calibri"/>
                <a:sym typeface="Calibri"/>
              </a:rPr>
              <a:t>მადლობა ყურადღებისთვის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394c7ec9f_0_146"/>
          <p:cNvSpPr/>
          <p:nvPr/>
        </p:nvSpPr>
        <p:spPr>
          <a:xfrm>
            <a:off x="0" y="4480560"/>
            <a:ext cx="1218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8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FA8A6"/>
                </a:solidFill>
                <a:latin typeface="Calibri"/>
                <a:ea typeface="Calibri"/>
                <a:cs typeface="Calibri"/>
                <a:sym typeface="Calibri"/>
              </a:rPr>
              <a:t>ნარმინ სეიდოვა   ·   აინურ ალახვერდიევა   ·   ხამათი აბაზოვი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2026-07-08T07:11:00Z</dcterms:created>
  <dc:creator>CE490B</dc:creator>
</cp:coreProperties>
</file>